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KVCache 软硬件一体化设计</a:t>
            </a:r>
          </a:p>
          <a:p>
            <a:r>
              <a:rPr sz="1400">
                <a:solidFill>
                  <a:srgbClr val="5C6670"/>
                </a:solidFill>
                <a:latin typeface="Aptos"/>
              </a:rPr>
              <a:t>Coding-Agent 场景下的分层缓存、带宽约束与参考架构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目标：把重复 prefill 转化为可控的系统收益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范围：场景、模型、硬件、软件和参考架构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问题定义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KVCache 的目标不是单纯提高命中率，而是系统推理效率最大化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命中率统一拆成：理论可复用率 / 存储可命中率 / 有效命中率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重点看有效命中能否转化成 TTFT 和吞吐收益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工作负载与模型假设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场景：coding-agent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上下文档位：25K / 50K / 100K / 150K / 200K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参数：h_eff=0.90, TTL_hot=60s, TTL_cold=15min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模型：Kimi K2.5=39.1 KiB/token, MiniMax M2.5=124.0 KiB/token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推导核心逻辑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读带宽下界：BW_read_hide = (h_eff / (1-h_eff)) * R_eff * B_tok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性能驱动容量：Cap = lambda_step * TTL * L * B_tok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更快的推理节点会同时推高带宽和驻留容量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硬件结论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推理节点自带 DDR 是热层主体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专用 DRAM 节点负责热点溢出和不均衡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SSD 节点负责冷层、write-back 和 fallback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节点数量必须按容量和带宽双约束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现实服务器形态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目标服务器：主流 2U 2P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SSD 节点更现实的口径：4 x 400G NIC + 16 x NVMe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推荐：SSD-48（48 GB/s）与 SSD-64（64 GB/s）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不能按 6-8 张高速 NIC 去设计 SSD 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RDMA + SPDK 下的内存放大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remote DDR hit 的端到端 host-memory 放大下界 = 3x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SSD hit 的端到端 host-memory 放大下界 = 4x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一旦多一次 host copy，很快进入 5x-8x 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4 x 400G 与内存通道约束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4 x 400G 单方向 payload 约 200 GB/s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理想接收路径需要约 400 GB/s 的 DDR 带宽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一次额外 host copy 就会上升到约 800 GB/s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16 channels total 很紧，24 channels total 更合理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为什么不能直接用 Ceph 或 Alluxio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Ceph 适合超冷层和通用持久化底座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Alluxio 适合借鉴分层与 namespace 思路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二者都没有把 pinned DDR / HBM 协同 / copy budget / NUMA 压力当成第一约束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参考架构</a:t>
            </a:r>
          </a:p>
          <a:p>
            <a:r>
              <a:rPr sz="1400">
                <a:solidFill>
                  <a:srgbClr val="5C6670"/>
                </a:solidFill>
                <a:latin typeface="Aptos"/>
              </a:rPr>
              <a:t>控制面轻量决策，数据面流式搬运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554480" cy="914400"/>
          </a:xfrm>
          <a:prstGeom prst="roundRect">
            <a:avLst/>
          </a:prstGeom>
          <a:solidFill>
            <a:srgbClr val="103178"/>
          </a:solidFill>
          <a:ln>
            <a:solidFill>
              <a:srgbClr val="103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Metadata /
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103120"/>
            <a:ext cx="1554480" cy="91440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DRAM Page
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1554480" cy="914400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SSD Page
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1554480" cy="914400"/>
          </a:xfrm>
          <a:prstGeom prst="roundRect">
            <a:avLst/>
          </a:prstGeom>
          <a:solidFill>
            <a:srgbClr val="103178"/>
          </a:solidFill>
          <a:ln>
            <a:solidFill>
              <a:srgbClr val="103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RDMA Recv
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03120"/>
            <a:ext cx="1554480" cy="914400"/>
          </a:xfrm>
          <a:prstGeom prst="roundRect">
            <a:avLst/>
          </a:prstGeom>
          <a:solidFill>
            <a:srgbClr val="3884FF"/>
          </a:solidFill>
          <a:ln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Pinned DDR
(L2)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103120"/>
            <a:ext cx="1554480" cy="914400"/>
          </a:xfrm>
          <a:prstGeom prst="roundRect">
            <a:avLst/>
          </a:prstGeom>
          <a:solidFill>
            <a:srgbClr val="103178"/>
          </a:solidFill>
          <a:ln>
            <a:solidFill>
              <a:srgbClr val="103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Layer Runtime
-&gt; HBM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560320.0"/>
            <a:ext cx="182880" cy="0.0"/>
          </a:xfrm>
          <a:prstGeom prst="line">
            <a:avLst/>
          </a:prstGeom>
          <a:ln w="25400">
            <a:solidFill>
              <a:srgbClr val="1031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2560320.0"/>
            <a:ext cx="365760" cy="0.0"/>
          </a:xfrm>
          <a:prstGeom prst="line">
            <a:avLst/>
          </a:prstGeom>
          <a:ln w="25400">
            <a:solidFill>
              <a:srgbClr val="1031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2560320.0"/>
            <a:ext cx="365760" cy="0.0"/>
          </a:xfrm>
          <a:prstGeom prst="line">
            <a:avLst/>
          </a:prstGeom>
          <a:ln w="25400">
            <a:solidFill>
              <a:srgbClr val="1031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2560320.0"/>
            <a:ext cx="365760" cy="0.0"/>
          </a:xfrm>
          <a:prstGeom prst="line">
            <a:avLst/>
          </a:prstGeom>
          <a:ln w="25400">
            <a:solidFill>
              <a:srgbClr val="1031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92640" y="2560320.0"/>
            <a:ext cx="182880" cy="0.0"/>
          </a:xfrm>
          <a:prstGeom prst="line">
            <a:avLst/>
          </a:prstGeom>
          <a:ln w="25400">
            <a:solidFill>
              <a:srgbClr val="1031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657600"/>
            <a:ext cx="10241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C2026"/>
                </a:solidFill>
                <a:latin typeface="Aptos"/>
              </a:defRPr>
            </a:pPr>
            <a:r>
              <a:t>关键原则：控制面轻量决策；热层和冷层都按 page 流式发送；接收端直接落到最终 pinned DDR；layer-wise 搬运独立执行。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IO 流设计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remote DDR hit：metadata -&gt; DRAM shard -&gt; RDMA -&gt; pinned DDR -&gt; layer runtime -&gt; HBM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SSD hit：metadata -&gt; SSD shard -&gt; SPDK read -&gt; RDMA -&gt; pinned DDR -&gt; layer runtime -&gt; HBM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miss / write-back：recompute -&gt; local DDR/HBM -&gt; admission -&gt; promote/demote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3178"/>
                </a:solidFill>
                <a:latin typeface="Aptos Display"/>
              </a:rPr>
              <a:t>最终结论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wrap="square">
            <a:no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KVCache 是推理数据面系统，不是通用缓存系统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先盯住 A_mem，再谈 hit rate</a:t>
            </a:r>
          </a:p>
          <a:p>
            <a:pPr>
              <a:spcAft>
                <a:spcPts val="8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软件要围绕固定 page 布局、pinned buffer、NUMA-local queue 和 streaming page server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